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platform runs the whole value lifecycle in one place. Opening line: organisations approve value they then can't prove — this closes that loop.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marquee. The handover is the whole point of the product: the required link between approved value and committed, measurable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loop: approved value and proven value, joined by a first-class handover. Invite the discussion on where that link is weakest.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640080"/>
            <a:ext cx="1371600" cy="1371600"/>
          </a:xfrm>
          <a:prstGeom prst="ellipse">
            <a:avLst/>
          </a:prstGeom>
          <a:solidFill>
            <a:srgbClr val="0B1220"/>
          </a:solidFill>
          <a:ln w="38100">
            <a:solidFill>
              <a:srgbClr val="60A5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561320" y="822960"/>
            <a:ext cx="1371600" cy="1371600"/>
          </a:xfrm>
          <a:prstGeom prst="ellipse">
            <a:avLst/>
          </a:prstGeom>
          <a:solidFill>
            <a:srgbClr val="0B1220"/>
          </a:solidFill>
          <a:ln w="38100">
            <a:solidFill>
              <a:srgbClr val="34D39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14884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Value Lifecycle Platform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640080" y="32918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approved value to proven value.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3977640"/>
            <a:ext cx="9601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workspace runs both roles — the value engineer who finds and quantifies value, and the realization manager who implements and proves it — with a first-class handover so nothing is lost between them.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6126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OVERVIEW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Organisations approve value</a:t>
            </a:r>
            <a:endParaRPr lang="en-US" sz="3300" dirty="0"/>
          </a:p>
          <a:p>
            <a:pPr indent="0" marL="0">
              <a:buNone/>
            </a:pPr>
            <a:r>
              <a:rPr lang="en-US" sz="33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they can't prove.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2651760"/>
            <a:ext cx="6035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study lives in one team's deck. The realization lives in another team's spreadsheet. The link between them is an email thread — so when the board asks whether the approved savings ever showed up, nobody can answer with a number.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315200" y="2331720"/>
            <a:ext cx="4233672" cy="3291840"/>
          </a:xfrm>
          <a:prstGeom prst="roundRect">
            <a:avLst>
              <a:gd name="adj" fmla="val 3333"/>
            </a:avLst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  <a:effectLst>
            <a:outerShdw sx="100000" sy="100000" kx="0" ky="0" algn="bl" rotWithShape="0" blurRad="76200" dist="25400" dir="5400000">
              <a:srgbClr val="0F172A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35240" y="2606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value leaks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635240" y="3108960"/>
            <a:ext cx="3611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case approved, then filed away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baseline to measure against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Realization tracked in a different tool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QBRs tell a story, not a reconciliation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roles. One workspace. A first-class handover.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352044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0F172A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606040"/>
            <a:ext cx="475488" cy="475488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606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60120" y="324612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Engineer the value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60120" y="3794760"/>
            <a:ext cx="2880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8-phase VE Job Plan: analyse functions, generate and score alternatives, and build a quantified business case.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334256" y="2286000"/>
            <a:ext cx="352044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0F172A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54296" y="2606040"/>
            <a:ext cx="475488" cy="475488"/>
          </a:xfrm>
          <a:prstGeom prst="ellipse">
            <a:avLst/>
          </a:prstGeom>
          <a:solidFill>
            <a:srgbClr val="0F172A"/>
          </a:solidFill>
          <a:ln/>
        </p:spPr>
      </p:sp>
      <p:sp>
        <p:nvSpPr>
          <p:cNvPr id="11" name="Text 9"/>
          <p:cNvSpPr/>
          <p:nvPr/>
        </p:nvSpPr>
        <p:spPr>
          <a:xfrm>
            <a:off x="4654296" y="2606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654296" y="324612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Hand it over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654296" y="3794760"/>
            <a:ext cx="2880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click turns accepted recommendations into a realization track — work packages, benefits and KPIs seeded from the study.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028432" y="2286000"/>
            <a:ext cx="352044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0F172A">
                <a:alpha val="1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48472" y="2606040"/>
            <a:ext cx="475488" cy="475488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16" name="Text 14"/>
          <p:cNvSpPr/>
          <p:nvPr/>
        </p:nvSpPr>
        <p:spPr>
          <a:xfrm>
            <a:off x="8348472" y="2606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348472" y="324612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Realize &amp; prove it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348472" y="3794760"/>
            <a:ext cx="2880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7-phase lifecycle drives adoption and measures actuals against baseline — realized value that traces back to the case.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value lifecycle, guided end to end.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4892040" cy="3383280"/>
          </a:xfrm>
          <a:prstGeom prst="roundRect">
            <a:avLst>
              <a:gd name="adj" fmla="val 3243"/>
            </a:avLst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  <a:effectLst>
            <a:outerShdw sx="100000" sy="100000" kx="0" ky="0" algn="bl" rotWithShape="0" blurRad="76200" dist="25400" dir="5400000">
              <a:srgbClr val="0F172A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2286000"/>
            <a:ext cx="4892040" cy="548640"/>
          </a:xfrm>
          <a:prstGeom prst="roundRect">
            <a:avLst>
              <a:gd name="adj" fmla="val 20000"/>
            </a:avLst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286000"/>
            <a:ext cx="4892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Value Engineer · 8-phase VE Job Plan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063240"/>
            <a:ext cx="4389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Orientation &amp; Information</a:t>
            </a:r>
            <a:endParaRPr lang="en-US" sz="13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analysis + FAST</a:t>
            </a:r>
            <a:endParaRPr lang="en-US" sz="13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 alternatives</a:t>
            </a:r>
            <a:endParaRPr lang="en-US" sz="13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(weighted scoring)</a:t>
            </a:r>
            <a:endParaRPr lang="en-US" sz="13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 &amp; business case</a:t>
            </a:r>
            <a:endParaRPr lang="en-US" sz="13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→ accept/reject</a:t>
            </a:r>
            <a:endParaRPr lang="en-US" sz="13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Handover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806440" y="3657600"/>
            <a:ext cx="576072" cy="640080"/>
          </a:xfrm>
          <a:prstGeom prst="roundRect">
            <a:avLst>
              <a:gd name="adj" fmla="val 15873"/>
            </a:avLst>
          </a:prstGeom>
          <a:solidFill>
            <a:srgbClr val="FFFFFF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806440" y="3657600"/>
            <a:ext cx="576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6656832" y="2286000"/>
            <a:ext cx="4892040" cy="3383280"/>
          </a:xfrm>
          <a:prstGeom prst="roundRect">
            <a:avLst>
              <a:gd name="adj" fmla="val 3243"/>
            </a:avLst>
          </a:prstGeom>
          <a:solidFill>
            <a:srgbClr val="ECFDF5"/>
          </a:solidFill>
          <a:ln w="12700">
            <a:solidFill>
              <a:srgbClr val="ECFDF5"/>
            </a:solidFill>
            <a:prstDash val="solid"/>
          </a:ln>
          <a:effectLst>
            <a:outerShdw sx="100000" sy="100000" kx="0" ky="0" algn="bl" rotWithShape="0" blurRad="76200" dist="25400" dir="5400000">
              <a:srgbClr val="0F172A">
                <a:alpha val="1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656832" y="2286000"/>
            <a:ext cx="4892040" cy="548640"/>
          </a:xfrm>
          <a:prstGeom prst="roundRect">
            <a:avLst>
              <a:gd name="adj" fmla="val 20000"/>
            </a:avLst>
          </a:prstGeom>
          <a:solidFill>
            <a:srgbClr val="059669"/>
          </a:solidFill>
          <a:ln/>
        </p:spPr>
      </p:sp>
      <p:sp>
        <p:nvSpPr>
          <p:cNvPr id="12" name="Text 10"/>
          <p:cNvSpPr/>
          <p:nvPr/>
        </p:nvSpPr>
        <p:spPr>
          <a:xfrm>
            <a:off x="6656832" y="2286000"/>
            <a:ext cx="4892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Realization Manager · 7-phase lifecycle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931152" y="3063240"/>
            <a:ext cx="4389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 &amp; alignment</a:t>
            </a:r>
            <a:endParaRPr lang="en-US" sz="13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&amp; measurement</a:t>
            </a:r>
            <a:endParaRPr lang="en-US" sz="13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planning</a:t>
            </a:r>
            <a:endParaRPr lang="en-US" sz="13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Adoption &amp; change</a:t>
            </a:r>
            <a:endParaRPr lang="en-US" sz="13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 &amp; monitoring</a:t>
            </a:r>
            <a:endParaRPr lang="en-US" sz="13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tracking &amp; reporting</a:t>
            </a:r>
            <a:endParaRPr lang="en-US" sz="13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Close-out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0080" y="580644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phase teaches, with exit criteria as a quality gate.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ENGINEERING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 the value the classic way — then quantify it.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3317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0F172A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532888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563E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Function analysis + FAST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914400" y="3081528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Verb-noun functions with cost vs worth; a value index flags where you overspend, drawn as a FAST logic tree.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34256" y="23317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  <a:effectLst>
            <a:outerShdw sx="100000" sy="100000" kx="0" ky="0" algn="bl" rotWithShape="0" blurRad="76200" dist="25400" dir="5400000">
              <a:srgbClr val="0F172A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608576" y="2532888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563E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Creative alternatives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4608576" y="3081528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ways to deliver each function — type your own or brainstorm a spread (AI or template).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028432" y="23317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0F172A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302752" y="2532888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563E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Evaluation matrix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8302752" y="3081528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criteria, 1–5 scoring, live rank; change a weight and everything re-ranks.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0080" y="42062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  <a:effectLst>
            <a:outerShdw sx="100000" sy="100000" kx="0" ky="0" algn="bl" rotWithShape="0" blurRad="76200" dist="25400" dir="5400000">
              <a:srgbClr val="0F172A">
                <a:alpha val="1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14400" y="4407408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563E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Recommendations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914400" y="4956048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 shortlisted ideas to recommendations with technical and commercial detail.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334256" y="42062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0F172A">
                <a:alpha val="1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608576" y="4407408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563E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 case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4608576" y="4956048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Cost/benefit line items; ROI, payback, NPV &amp; IRR recompute live; multi-currency (ZAR default).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028432" y="42062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  <a:effectLst>
            <a:outerShdw sx="100000" sy="100000" kx="0" ky="0" algn="bl" rotWithShape="0" blurRad="76200" dist="25400" dir="5400000">
              <a:srgbClr val="0F172A">
                <a:alpha val="1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302752" y="4407408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563E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Value handover pack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8302752" y="4956048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Baselines, KPI definitions and success criteria — what realization will be measured against.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BUSINESS CASE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live business case, not a static spreadsheet.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468880"/>
            <a:ext cx="5760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cost and benefit line items — CAPEX, OPEX, one-off, recurring, benefits — and the finance engine recomputes the headline numbers instantly. Snapshot a version before a big edit; export a board-ready document to Word.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4206240"/>
            <a:ext cx="5486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NPV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Life-cycle cost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903720" y="2331720"/>
            <a:ext cx="4645152" cy="1828800"/>
          </a:xfrm>
          <a:prstGeom prst="roundRect">
            <a:avLst>
              <a:gd name="adj" fmla="val 6000"/>
            </a:avLst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  <a:effectLst>
            <a:outerShdw sx="100000" sy="100000" kx="0" ky="0" algn="bl" rotWithShape="0" blurRad="76200" dist="25400" dir="5400000">
              <a:srgbClr val="0F172A">
                <a:alpha val="1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178040" y="25603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563E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Computed, not typed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178040" y="2971800"/>
            <a:ext cx="411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finance engine is authoritative — every figure is derived from the line items, so the case is always internally consistent.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903720" y="4343400"/>
            <a:ext cx="4645152" cy="1508760"/>
          </a:xfrm>
          <a:prstGeom prst="roundRect">
            <a:avLst>
              <a:gd name="adj" fmla="val 7273"/>
            </a:avLst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  <a:effectLst>
            <a:outerShdw sx="100000" sy="100000" kx="0" ky="0" algn="bl" rotWithShape="0" blurRad="76200" dist="25400" dir="5400000">
              <a:srgbClr val="0F172A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086600" y="452628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4D3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ZAR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8732520" y="452628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currency —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switchable per business case.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HANDOVER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click turns approved value into owned work.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3317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at least one reviewer-accepted recommendation, Create Value Realization Track spins up a linked track and pre-populates it from the study. Nothing is re-keyed.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338328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1623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365760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0A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 packages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14400" y="4206240"/>
            <a:ext cx="2057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accepted recommendations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3407664" y="338328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1623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81984" y="365760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0A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Benefits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3681984" y="4206240"/>
            <a:ext cx="2057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expected-benefit artifacts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175248" y="338328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1623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49568" y="365760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0A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KPI targets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449568" y="4206240"/>
            <a:ext cx="2057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KPI artifacts, with baselines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942832" y="338328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16233B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217152" y="365760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4D3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Back-link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9217152" y="4206240"/>
            <a:ext cx="2057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→ source study, audit logged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REALIZATION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 it, adopt it, and measure what lands.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3317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ECFDF5"/>
          </a:solidFill>
          <a:ln w="12700">
            <a:solidFill>
              <a:srgbClr val="ECFDF5"/>
            </a:solidFill>
            <a:prstDash val="solid"/>
          </a:ln>
          <a:effectLst>
            <a:outerShdw sx="100000" sy="100000" kx="0" ky="0" algn="bl" rotWithShape="0" blurRad="76200" dist="25400" dir="5400000">
              <a:srgbClr val="0F172A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532888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596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 packages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914400" y="3081528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implementation WBS — owners, due dates, status, dependencies.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34256" y="23317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0F172A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608576" y="2532888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596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Adoption &amp; change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4608576" y="3081528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Who's impacted, training, comms and champions — recommendations become owned work.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028432" y="23317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ECFDF5"/>
          </a:solidFill>
          <a:ln w="12700">
            <a:solidFill>
              <a:srgbClr val="ECFDF5"/>
            </a:solidFill>
            <a:prstDash val="solid"/>
          </a:ln>
          <a:effectLst>
            <a:outerShdw sx="100000" sy="100000" kx="0" ky="0" algn="bl" rotWithShape="0" blurRad="76200" dist="25400" dir="5400000">
              <a:srgbClr val="0F172A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302752" y="2532888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596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KPI tracker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8302752" y="3081528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actuals each period against the baselines and targets carried from handover.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0080" y="42062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0F172A">
                <a:alpha val="1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14400" y="4407408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596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Benefits realization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914400" y="4956048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realized value per benefit; it rolls up to the track and the portfolio.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334256" y="42062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ECFDF5"/>
          </a:solidFill>
          <a:ln w="12700">
            <a:solidFill>
              <a:srgbClr val="ECFDF5"/>
            </a:solidFill>
            <a:prstDash val="solid"/>
          </a:ln>
          <a:effectLst>
            <a:outerShdw sx="100000" sy="100000" kx="0" ky="0" algn="bl" rotWithShape="0" blurRad="76200" dist="25400" dir="5400000">
              <a:srgbClr val="0F172A">
                <a:alpha val="1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608576" y="4407408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596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Value reports / QBR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4608576" y="4956048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Periodic and quarterly packs, exported to Word.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028432" y="42062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0F172A">
                <a:alpha val="1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302752" y="4407408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596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Close-out &amp; lessons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8302752" y="4956048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realized value vs the original business case; lessons feed back to VE.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Planned value vs realized value — in one view.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468880"/>
            <a:ext cx="5852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portfolio dashboard puts the engineers' planned value beside the managers' realized value, broken down by industry and health. Realized value is measured against the baselines set at handover — so the number is a reconciliation, not a story.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858000" y="2377440"/>
            <a:ext cx="2331720" cy="1737360"/>
          </a:xfrm>
          <a:prstGeom prst="roundRect">
            <a:avLst>
              <a:gd name="adj" fmla="val 6316"/>
            </a:avLst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  <a:effectLst>
            <a:outerShdw sx="100000" sy="100000" kx="0" ky="0" algn="bl" rotWithShape="0" blurRad="76200" dist="25400" dir="5400000">
              <a:srgbClr val="0F172A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858000" y="256032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858000" y="2880360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563E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6858000" y="3767328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business cases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9217152" y="2377440"/>
            <a:ext cx="2331720" cy="1737360"/>
          </a:xfrm>
          <a:prstGeom prst="roundRect">
            <a:avLst>
              <a:gd name="adj" fmla="val 6316"/>
            </a:avLst>
          </a:prstGeom>
          <a:solidFill>
            <a:srgbClr val="ECFDF5"/>
          </a:solidFill>
          <a:ln w="12700">
            <a:solidFill>
              <a:srgbClr val="ECFDF5"/>
            </a:solidFill>
            <a:prstDash val="solid"/>
          </a:ln>
          <a:effectLst>
            <a:outerShdw sx="100000" sy="100000" kx="0" ky="0" algn="bl" rotWithShape="0" blurRad="76200" dist="25400" dir="5400000">
              <a:srgbClr val="0F172A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9217152" y="256032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Realized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217152" y="2880360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596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VR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9217152" y="3767328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KPI actuals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858000" y="4297680"/>
            <a:ext cx="4690872" cy="1554480"/>
          </a:xfrm>
          <a:prstGeom prst="roundRect">
            <a:avLst>
              <a:gd name="adj" fmla="val 7059"/>
            </a:avLst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  <a:effectLst>
            <a:outerShdw sx="100000" sy="100000" kx="0" ky="0" algn="bl" rotWithShape="0" blurRad="76200" dist="25400" dir="5400000">
              <a:srgbClr val="0F172A">
                <a:alpha val="1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132320" y="452628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“Did we get the savings we approved?”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132320" y="502920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number, traceable all the way back to the study.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SUCCESS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Proven value → a retained, growing relationship.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Realization proves one initiative and closes out; Customer Success is the continuous, per-account layer — and it references the account's studies and tracks, it never duplicates their value.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88920"/>
            <a:ext cx="2651760" cy="2651760"/>
          </a:xfrm>
          <a:prstGeom prst="roundRect">
            <a:avLst>
              <a:gd name="adj" fmla="val 4138"/>
            </a:avLst>
          </a:prstGeom>
          <a:solidFill>
            <a:srgbClr val="ECFDF5"/>
          </a:solidFill>
          <a:ln w="12700">
            <a:solidFill>
              <a:srgbClr val="ECFDF5"/>
            </a:solidFill>
            <a:prstDash val="solid"/>
          </a:ln>
          <a:effectLst>
            <a:outerShdw sx="100000" sy="100000" kx="0" ky="0" algn="bl" rotWithShape="0" blurRad="76200" dist="25400" dir="5400000">
              <a:srgbClr val="0F172A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306324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8-stage lifecycle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3794760"/>
            <a:ext cx="2103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Handover → onboarding → adoption → value → health → governance → renewal → expansion.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392424" y="2788920"/>
            <a:ext cx="2651760" cy="2651760"/>
          </a:xfrm>
          <a:prstGeom prst="roundRect">
            <a:avLst>
              <a:gd name="adj" fmla="val 4138"/>
            </a:avLst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  <a:effectLst>
            <a:outerShdw sx="100000" sy="100000" kx="0" ky="0" algn="bl" rotWithShape="0" blurRad="76200" dist="25400" dir="5400000">
              <a:srgbClr val="0F172A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66744" y="306324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Health, proactively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666744" y="3794760"/>
            <a:ext cx="2103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weighted scorecard rolls up to a RAG band; attention signals flag renewals, risk and detractors.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144768" y="2788920"/>
            <a:ext cx="2651760" cy="2651760"/>
          </a:xfrm>
          <a:prstGeom prst="roundRect">
            <a:avLst>
              <a:gd name="adj" fmla="val 4138"/>
            </a:avLst>
          </a:prstGeom>
          <a:solidFill>
            <a:srgbClr val="ECFDF5"/>
          </a:solidFill>
          <a:ln w="12700">
            <a:solidFill>
              <a:srgbClr val="ECFDF5"/>
            </a:solidFill>
            <a:prstDash val="solid"/>
          </a:ln>
          <a:effectLst>
            <a:outerShdw sx="100000" sy="100000" kx="0" ky="0" algn="bl" rotWithShape="0" blurRad="76200" dist="25400" dir="5400000">
              <a:srgbClr val="0F172A">
                <a:alpha val="1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19088" y="306324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Renewal &amp; growth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19088" y="3794760"/>
            <a:ext cx="2103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 map, action log, renewal and growth plans — renewal becomes a non-event.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897112" y="2788920"/>
            <a:ext cx="2651760" cy="2651760"/>
          </a:xfrm>
          <a:prstGeom prst="roundRect">
            <a:avLst>
              <a:gd name="adj" fmla="val 4138"/>
            </a:avLst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  <a:effectLst>
            <a:outerShdw sx="100000" sy="100000" kx="0" ky="0" algn="bl" rotWithShape="0" blurRad="76200" dist="25400" dir="5400000">
              <a:srgbClr val="0F172A">
                <a:alpha val="1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171432" y="306324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AI-assisted EBR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9171432" y="3794760"/>
            <a:ext cx="2103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an executive review from the account's own data; export an Account Success Review.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40080" y="566928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portfolio gains a Customer Success lens — engagement health, upcoming renewals and accounts needing attention.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CONFIGURABLE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industries out of the box — configuration, not code.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377440"/>
            <a:ext cx="3520440" cy="2651760"/>
          </a:xfrm>
          <a:prstGeom prst="roundRect">
            <a:avLst>
              <a:gd name="adj" fmla="val 4138"/>
            </a:avLst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  <a:effectLst>
            <a:outerShdw sx="100000" sy="100000" kx="0" ky="0" algn="bl" rotWithShape="0" blurRad="76200" dist="25400" dir="5400000">
              <a:srgbClr val="0F172A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269748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563E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Construction &amp; Infrastructure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60120" y="3611880"/>
            <a:ext cx="2880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projects, life-cycle cost, buildability — value engineering's home turf.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4334256" y="2377440"/>
            <a:ext cx="3520440" cy="2651760"/>
          </a:xfrm>
          <a:prstGeom prst="roundRect">
            <a:avLst>
              <a:gd name="adj" fmla="val 4138"/>
            </a:avLst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  <a:effectLst>
            <a:outerShdw sx="100000" sy="100000" kx="0" ky="0" algn="bl" rotWithShape="0" blurRad="76200" dist="25400" dir="5400000">
              <a:srgbClr val="0F172A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654296" y="269748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563E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Manufacturing &amp; Product Dev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654296" y="3611880"/>
            <a:ext cx="2880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Should-cost, DFMA, tooling and unit-cost levers across a product line.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8028432" y="2377440"/>
            <a:ext cx="3520440" cy="2651760"/>
          </a:xfrm>
          <a:prstGeom prst="roundRect">
            <a:avLst>
              <a:gd name="adj" fmla="val 4138"/>
            </a:avLst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  <a:effectLst>
            <a:outerShdw sx="100000" sy="100000" kx="0" ky="0" algn="bl" rotWithShape="0" blurRad="76200" dist="25400" dir="5400000">
              <a:srgbClr val="0F172A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348472" y="269748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563E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Enterprise Software / SaaS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348472" y="3611880"/>
            <a:ext cx="2880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Adoption, cost-to-serve and efficiency benefits for digital initiatives.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40080" y="5257800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profile adds study types, cost drivers, value levers and default KPIs — add a new one in a data file and re-seed; the engine never changes.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&amp; ENTERPRISE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Separation of duties, enforced — and multi-tenant.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377440"/>
            <a:ext cx="3520440" cy="3108960"/>
          </a:xfrm>
          <a:prstGeom prst="roundRect">
            <a:avLst>
              <a:gd name="adj" fmla="val 3529"/>
            </a:avLst>
          </a:prstGeom>
          <a:solidFill>
            <a:srgbClr val="1623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269748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0A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Role-based access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60120" y="352044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Engineer, Realization Manager, Customer Success Manager, Reviewer, Viewer, Admin — capabilities enforced on the server, not just hidden in the UI.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334256" y="2377440"/>
            <a:ext cx="3520440" cy="3108960"/>
          </a:xfrm>
          <a:prstGeom prst="roundRect">
            <a:avLst>
              <a:gd name="adj" fmla="val 3529"/>
            </a:avLst>
          </a:prstGeom>
          <a:solidFill>
            <a:srgbClr val="1623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54296" y="269748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0A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real governance gate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654296" y="352044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reviewer-accepted recommendations can be handed over — the line between proposed and committed value.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028432" y="2377440"/>
            <a:ext cx="3520440" cy="3108960"/>
          </a:xfrm>
          <a:prstGeom prst="roundRect">
            <a:avLst>
              <a:gd name="adj" fmla="val 3529"/>
            </a:avLst>
          </a:prstGeom>
          <a:solidFill>
            <a:srgbClr val="16233B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48472" y="269748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4D3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Multi-tenant &amp; auditable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8348472" y="352044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Self-serve workspaces isolated by organisation; version history and an audit log keep every number defensible.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complete platform, already built.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331720"/>
            <a:ext cx="2514600" cy="1554480"/>
          </a:xfrm>
          <a:prstGeom prst="roundRect">
            <a:avLst>
              <a:gd name="adj" fmla="val 7059"/>
            </a:avLst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  <a:effectLst>
            <a:outerShdw sx="100000" sy="100000" kx="0" ky="0" algn="bl" rotWithShape="0" blurRad="76200" dist="25400" dir="5400000">
              <a:srgbClr val="0F172A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2468880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563E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8·7·8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640080" y="324612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 · VR · CS phases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438144" y="2331720"/>
            <a:ext cx="2514600" cy="1554480"/>
          </a:xfrm>
          <a:prstGeom prst="roundRect">
            <a:avLst>
              <a:gd name="adj" fmla="val 7059"/>
            </a:avLst>
          </a:prstGeom>
          <a:solidFill>
            <a:srgbClr val="ECFDF5"/>
          </a:solidFill>
          <a:ln w="12700">
            <a:solidFill>
              <a:srgbClr val="ECFDF5"/>
            </a:solidFill>
            <a:prstDash val="solid"/>
          </a:ln>
          <a:effectLst>
            <a:outerShdw sx="100000" sy="100000" kx="0" ky="0" algn="bl" rotWithShape="0" blurRad="76200" dist="25400" dir="5400000">
              <a:srgbClr val="0F172A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438144" y="2468880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596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3438144" y="324612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 pillars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36208" y="2331720"/>
            <a:ext cx="2514600" cy="1554480"/>
          </a:xfrm>
          <a:prstGeom prst="roundRect">
            <a:avLst>
              <a:gd name="adj" fmla="val 7059"/>
            </a:avLst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  <a:effectLst>
            <a:outerShdw sx="100000" sy="100000" kx="0" ky="0" algn="bl" rotWithShape="0" blurRad="76200" dist="25400" dir="5400000">
              <a:srgbClr val="0F172A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236208" y="2468880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563E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6236208" y="324612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 metrics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034272" y="2331720"/>
            <a:ext cx="2514600" cy="1554480"/>
          </a:xfrm>
          <a:prstGeom prst="roundRect">
            <a:avLst>
              <a:gd name="adj" fmla="val 7059"/>
            </a:avLst>
          </a:prstGeom>
          <a:solidFill>
            <a:srgbClr val="ECFDF5"/>
          </a:solidFill>
          <a:ln w="12700">
            <a:solidFill>
              <a:srgbClr val="ECFDF5"/>
            </a:solidFill>
            <a:prstDash val="solid"/>
          </a:ln>
          <a:effectLst>
            <a:outerShdw sx="100000" sy="100000" kx="0" ky="0" algn="bl" rotWithShape="0" blurRad="76200" dist="25400" dir="5400000">
              <a:srgbClr val="0F172A">
                <a:alpha val="1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034272" y="2468880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596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9034272" y="324612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tenant-isolated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420624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ships today: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40080" y="4617720"/>
            <a:ext cx="1090879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 Job Plan — function analysis, FAST diagram, weighted evaluation matrix, inline editing throughout</a:t>
            </a:r>
            <a:endParaRPr lang="en-US" sz="13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case — live finance engine (ROI/payback/NPV/IRR/LCC), multi-currency, version history, Word export</a:t>
            </a:r>
            <a:endParaRPr lang="en-US" sz="13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first-class VE→VR handover — accepted recommendations become a seeded realization track</a:t>
            </a:r>
            <a:endParaRPr lang="en-US" sz="13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Realization lifecycle — work packages, adoption plan, KPI tracker, benefits realization, VRP/QBR export</a:t>
            </a:r>
            <a:endParaRPr lang="en-US" sz="13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Success — per-account engagements, 8-stage lifecycle, health scorecard, renewal/growth plans, AI-assisted EBRs</a:t>
            </a:r>
            <a:endParaRPr lang="en-US" sz="13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— portfolio &amp; KPI dashboards (with a CS lens), real Auth.js RBAC, self-service workspaces + admin team management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IT'S FOR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the people who own the value — and have to prove it.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377440"/>
            <a:ext cx="3520440" cy="30175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0F172A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274320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563E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Value engineering teams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960120" y="3611880"/>
            <a:ext cx="2880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structured studies and build defensible business cases in one place.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334256" y="2377440"/>
            <a:ext cx="3520440" cy="3017520"/>
          </a:xfrm>
          <a:prstGeom prst="roundRect">
            <a:avLst>
              <a:gd name="adj" fmla="val 3636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76200" dist="25400" dir="5400000">
              <a:srgbClr val="0F172A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654296" y="274320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Transformation &amp; PMOs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654296" y="3611880"/>
            <a:ext cx="2880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portfolio view of planned vs realized value across every initiative.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028432" y="2377440"/>
            <a:ext cx="3520440" cy="30175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0F172A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348472" y="274320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563E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Finance &amp; sponsors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348472" y="3611880"/>
            <a:ext cx="2880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reconciliation the board asks for — approved value against proven value.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21240" y="4709160"/>
            <a:ext cx="1371600" cy="1371600"/>
          </a:xfrm>
          <a:prstGeom prst="ellipse">
            <a:avLst/>
          </a:prstGeom>
          <a:solidFill>
            <a:srgbClr val="0B1220"/>
          </a:solidFill>
          <a:ln w="38100">
            <a:solidFill>
              <a:srgbClr val="60A5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424160" y="4892040"/>
            <a:ext cx="1371600" cy="1371600"/>
          </a:xfrm>
          <a:prstGeom prst="ellipse">
            <a:avLst/>
          </a:prstGeom>
          <a:solidFill>
            <a:srgbClr val="0B1220"/>
          </a:solidFill>
          <a:ln w="38100">
            <a:solidFill>
              <a:srgbClr val="34D39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103120"/>
            <a:ext cx="10058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Approved value, and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proven value — linked.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39776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is that link weakest in your organisation today?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Value Lifecycle Platform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Value Lifecycle Platform — Solution Overview</dc:title>
  <dc:subject>PptxGenJS Presentation</dc:subject>
  <dc:creator>Value Lifecycle Platform</dc:creator>
  <cp:lastModifiedBy>Value Lifecycle Platform</cp:lastModifiedBy>
  <cp:revision>1</cp:revision>
  <dcterms:created xsi:type="dcterms:W3CDTF">2026-08-23T12:00:07Z</dcterms:created>
  <dcterms:modified xsi:type="dcterms:W3CDTF">2026-08-23T12:00:07Z</dcterms:modified>
</cp:coreProperties>
</file>