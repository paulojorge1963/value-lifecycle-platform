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runs the whole value lifecycle in one place. Opening line: organisations approve value they then can't prove — this closes that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marquee. The handover is the whole point of the product: the required link between approved value and committed, measurable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loop: approved value and proven value, joined by a first-class handover. Invite the discussion on where that link is weakest.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640080"/>
            <a:ext cx="1371600" cy="1371600"/>
          </a:xfrm>
          <a:prstGeom prst="ellipse">
            <a:avLst/>
          </a:prstGeom>
          <a:solidFill>
            <a:srgbClr val="1B2632"/>
          </a:solidFill>
          <a:ln w="38100">
            <a:solidFill>
              <a:srgbClr val="B7C2C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822960"/>
            <a:ext cx="1371600" cy="1371600"/>
          </a:xfrm>
          <a:prstGeom prst="ellipse">
            <a:avLst/>
          </a:prstGeom>
          <a:solidFill>
            <a:srgbClr val="1B2632"/>
          </a:solidFill>
          <a:ln w="38100">
            <a:solidFill>
              <a:srgbClr val="D98E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Lifecycle Platform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7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approved value to proven value.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runs both roles — the value engineer who finds and quantifies value, and the realization manager who implements and proves it — with a first-class handover so nothing is lost between them.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Organisations approve value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can't prove.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lives in one team's deck. The realization lives in another team's spreadsheet. The link between them is an email thread — so when the board asks whether the approved savings ever showed up, nobody can answer with a number.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2331720"/>
            <a:ext cx="4233672" cy="3291840"/>
          </a:xfrm>
          <a:prstGeom prst="roundRect">
            <a:avLst>
              <a:gd name="adj" fmla="val 3333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value leaks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35240" y="310896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approved, then filed away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 to measure against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 tracked in a different tool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QBRs tell a story, not a reconciliation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roles. One workspace. A first-class handover.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475488" cy="475488"/>
          </a:xfrm>
          <a:prstGeom prst="ellipse">
            <a:avLst/>
          </a:prstGeom>
          <a:solidFill>
            <a:srgbClr val="2C3B4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the value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8-phase VE Job Plan: analyse functions, generate and score alternatives, and build a quantified business case.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4256" y="22860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2606040"/>
            <a:ext cx="475488" cy="475488"/>
          </a:xfrm>
          <a:prstGeom prst="ellipse">
            <a:avLst/>
          </a:prstGeom>
          <a:solidFill>
            <a:srgbClr val="26303B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54296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it over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54296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turns accepted recommendations into a realization track — work packages, benefits and KPIs seeded from the study.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28432" y="228600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8472" y="2606040"/>
            <a:ext cx="475488" cy="475488"/>
          </a:xfrm>
          <a:prstGeom prst="ellipse">
            <a:avLst/>
          </a:prstGeom>
          <a:solidFill>
            <a:srgbClr val="A35139"/>
          </a:solidFill>
          <a:ln/>
        </p:spPr>
      </p:sp>
      <p:sp>
        <p:nvSpPr>
          <p:cNvPr id="16" name="Text 14"/>
          <p:cNvSpPr/>
          <p:nvPr/>
        </p:nvSpPr>
        <p:spPr>
          <a:xfrm>
            <a:off x="8348472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48472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Realize &amp; prove it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48472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7-phase lifecycle drives adoption and measures actuals against baseline — realized value that traces back to the case.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value lifecycle, guided end to end.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892040" cy="3383280"/>
          </a:xfrm>
          <a:prstGeom prst="roundRect">
            <a:avLst>
              <a:gd name="adj" fmla="val 3243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86000"/>
            <a:ext cx="4892040" cy="548640"/>
          </a:xfrm>
          <a:prstGeom prst="roundRect">
            <a:avLst>
              <a:gd name="adj" fmla="val 20000"/>
            </a:avLst>
          </a:prstGeom>
          <a:solidFill>
            <a:srgbClr val="2C3B4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Engineer · 8-phase VE Job Plan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&amp; Information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analysis + FAST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alternatives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(weighted scoring)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business case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→ accept/reject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06440" y="3657600"/>
            <a:ext cx="576072" cy="640080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19050">
            <a:solidFill>
              <a:srgbClr val="E07E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3657600"/>
            <a:ext cx="576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7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656832" y="2286000"/>
            <a:ext cx="4892040" cy="3383280"/>
          </a:xfrm>
          <a:prstGeom prst="roundRect">
            <a:avLst>
              <a:gd name="adj" fmla="val 3243"/>
            </a:avLst>
          </a:prstGeom>
          <a:solidFill>
            <a:srgbClr val="FBF0EC"/>
          </a:solidFill>
          <a:ln w="12700">
            <a:solidFill>
              <a:srgbClr val="FBF0EC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56832" y="2286000"/>
            <a:ext cx="4892040" cy="548640"/>
          </a:xfrm>
          <a:prstGeom prst="roundRect">
            <a:avLst>
              <a:gd name="adj" fmla="val 20000"/>
            </a:avLst>
          </a:prstGeom>
          <a:solidFill>
            <a:srgbClr val="A35139"/>
          </a:solidFill>
          <a:ln/>
        </p:spPr>
      </p:sp>
      <p:sp>
        <p:nvSpPr>
          <p:cNvPr id="12" name="Text 10"/>
          <p:cNvSpPr/>
          <p:nvPr/>
        </p:nvSpPr>
        <p:spPr>
          <a:xfrm>
            <a:off x="6656832" y="22860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Realization Manager · 7-phase lifecycle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31152" y="306324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alignment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measurement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planning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change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monitoring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tracking &amp; reporting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teaches, with exit criteria as a quality gate.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value the classic way — then quantify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328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analysis + FAST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Verb-noun functions with cost vs worth; a value index flags where you overspend, drawn as a FAST logic tree.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23317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08576" y="25328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alternatives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08576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ways to deliver each function — type your own or brainstorm a spread (AI or template).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23317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25328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matrix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02752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criteria, 1–5 scoring, live rank; change a weight and everything re-ranks.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407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4400" y="49560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shortlisted ideas to recommendations with technical and commercial detail.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34256" y="42062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4407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08576" y="49560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Cost/benefit line items; ROI, payback, NPV &amp; IRR recompute live; multi-currency (ZAR default).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28432" y="42062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02752" y="4407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handover pack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02752" y="49560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Baselines, KPI definitions and success criteria — what realization will be measured against.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business case, not a static spreadsheet.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 and benefit line items — CAPEX, OPEX, one-off, recurring, benefits — and the finance engine recomputes the headline numbers instantly. Snapshot a version before a big edit; export a board-ready document to Word.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Life-cycle cost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2331720"/>
            <a:ext cx="4645152" cy="18288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7804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Computed, not typed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78040" y="29718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engine is authoritative — every figure is derived from the line items, so the case is always internally consistent.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03720" y="4343400"/>
            <a:ext cx="4645152" cy="1508760"/>
          </a:xfrm>
          <a:prstGeom prst="roundRect">
            <a:avLst>
              <a:gd name="adj" fmla="val 7273"/>
            </a:avLst>
          </a:prstGeom>
          <a:solidFill>
            <a:srgbClr val="1B2632"/>
          </a:solidFill>
          <a:ln w="12700">
            <a:solidFill>
              <a:srgbClr val="1B2632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86600" y="4526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732520" y="4526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currency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per business case.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7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 turns approved value into owned work.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at least one reviewer-accepted recommendation, Create Value Realization Track spins up a linked track and pre-populates it from the study. Nothing is re-keyed.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26303B"/>
          </a:solidFill>
          <a:ln w="12700">
            <a:solidFill>
              <a:srgbClr val="2C3B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57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C2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packages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accepted recommendations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07664" y="33832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26303B"/>
          </a:solidFill>
          <a:ln w="12700">
            <a:solidFill>
              <a:srgbClr val="2C3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1984" y="3657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C2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81984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expected-benefit artifacts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5248" y="33832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26303B"/>
          </a:solidFill>
          <a:ln w="12700">
            <a:solidFill>
              <a:srgbClr val="2C3B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9568" y="3657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C2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targets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49568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KPI artifacts, with baselines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42832" y="33832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26303B"/>
          </a:solidFill>
          <a:ln w="12700">
            <a:solidFill>
              <a:srgbClr val="A351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17152" y="3657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Back-link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217152" y="4206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→ source study, audit logged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35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it, adopt it, and measure what lands.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BF0EC"/>
          </a:solidFill>
          <a:ln w="12700">
            <a:solidFill>
              <a:srgbClr val="FBF0EC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5328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packages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WBS — owners, due dates, status, dependencies.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34256" y="23317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08576" y="25328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&amp; change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08576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impacted, training, comms and champions — recommendations become owned work.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23317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BF0EC"/>
          </a:solidFill>
          <a:ln w="12700">
            <a:solidFill>
              <a:srgbClr val="FBF0EC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25328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tracker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02752" y="308152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actuals each period against the baselines and targets carried from handover.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407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realization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4400" y="49560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realized value per benefit; it rolls up to the track and the portfolio.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34256" y="42062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BF0EC"/>
          </a:solidFill>
          <a:ln w="12700">
            <a:solidFill>
              <a:srgbClr val="FBF0EC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4407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reports / QBR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08576" y="49560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and quarterly packs, exported to Word.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28432" y="42062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02752" y="44074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Close-out &amp; lessons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02752" y="495604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realized value vs the original business case; lessons feed back to VE.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value vs realized value — in one view.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dashboard puts the engineers' planned value beside the managers' realized value, broken down by industry and health. Realized value is measured against the baselines set at handover — so the number is a reconciliation, not a story.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0" y="237744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2880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0" y="3767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cases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217152" y="237744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FBF0EC"/>
          </a:solidFill>
          <a:ln w="12700">
            <a:solidFill>
              <a:srgbClr val="FBF0EC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217152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5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17152" y="2880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217152" y="3767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KPI actuals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4297680"/>
            <a:ext cx="4690872" cy="1554480"/>
          </a:xfrm>
          <a:prstGeom prst="roundRect">
            <a:avLst>
              <a:gd name="adj" fmla="val 7059"/>
            </a:avLst>
          </a:prstGeom>
          <a:solidFill>
            <a:srgbClr val="1B2632"/>
          </a:solidFill>
          <a:ln w="12700">
            <a:solidFill>
              <a:srgbClr val="1B2632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3232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“Did we get the savings we approved?”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50292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number, traceable all the way back to the study.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value → a retained, growing relationship.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 proves one initiative and closes out; Customer Success is the continuous, per-account layer — and it references the account's studies and tracks, it never duplicates their value.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BF0EC"/>
          </a:solidFill>
          <a:ln w="12700">
            <a:solidFill>
              <a:srgbClr val="FBF0EC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8-stage lifecycle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→ onboarding → adoption → value → health → governance → renewal → expansion.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92424" y="278892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66744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Health, proactively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66744" y="37947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scorecard rolls up to a RAG band; attention signals flag renewals, risk and detractors.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44768" y="278892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BF0EC"/>
          </a:solidFill>
          <a:ln w="12700">
            <a:solidFill>
              <a:srgbClr val="FBF0EC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9088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Renewal &amp; growth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37947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map, action log, renewal and growth plans — renewal becomes a non-event.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97112" y="278892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71432" y="3063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EBR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71432" y="37947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executive review from the account's own data; export an Account Success Review.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6692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gains a Customer Success lens — engagement health, upcoming renewals and accounts needing attention.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industries out of the box — configuration, not code.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&amp; Infrastructure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projects, life-cycle cost, buildability — value engineering's home turf.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34256" y="23774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54296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&amp; Product Dev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54296" y="36118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Should-cost, DFMA, tooling and unit-cost levers across a product line.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28432" y="237744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Software / SaaS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48472" y="361188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cost-to-serve and efficiency benefits for digital initiatives.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profile adds study types, cost drivers, value levers and default KPIs — add a new one in a data file and re-seed; the engine never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ENTERPRISE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duties, enforced — and multi-tenant.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26303B"/>
          </a:solidFill>
          <a:ln w="12700">
            <a:solidFill>
              <a:srgbClr val="2C3B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697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C2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5204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Engineer, Realization Manager, Customer Success Manager, Reviewer, Viewer, Admin — capabilities enforced on the server, not just hidden in the UI.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4256" y="23774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26303B"/>
          </a:solidFill>
          <a:ln w="12700">
            <a:solidFill>
              <a:srgbClr val="2C3B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54296" y="2697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C2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governance gate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54296" y="35204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reviewer-accepted recommendations can be handed over — the line between proposed and committed value.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28432" y="23774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26303B"/>
          </a:solidFill>
          <a:ln w="12700">
            <a:solidFill>
              <a:srgbClr val="A351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26974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&amp; auditable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48472" y="352044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workspaces isolated by organisation; version history and an audit log keep every number defensible.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platform, already built.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688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8·7·8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· VR · CS phases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38144" y="233172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BF0EC"/>
          </a:solidFill>
          <a:ln w="12700">
            <a:solidFill>
              <a:srgbClr val="FBF0EC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8144" y="24688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38144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pillars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6208" y="233172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24688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36208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metrics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34272" y="2331720"/>
            <a:ext cx="2514600" cy="1554480"/>
          </a:xfrm>
          <a:prstGeom prst="roundRect">
            <a:avLst>
              <a:gd name="adj" fmla="val 7059"/>
            </a:avLst>
          </a:prstGeom>
          <a:solidFill>
            <a:srgbClr val="FBF0EC"/>
          </a:solidFill>
          <a:ln w="12700">
            <a:solidFill>
              <a:srgbClr val="FBF0EC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34272" y="246888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5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34272" y="3246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tenant-isolated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today: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10908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Job Plan — function analysis, FAST diagram, weighted evaluation matrix, inline editing throughout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— live finance engine (ROI/payback/NPV/IRR/LCC), multi-currency, version history, Word export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first-class VE→VR handover — accepted recommendations become a seeded realization track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 lifecycle — work packages, adoption plan, KPI tracker, benefits realization, VRP/QBR export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— per-account engagements, 8-stage lifecycle, health scorecard, renewal/growth plans, AI-assisted EBRs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— portfolio &amp; KPI dashboards (with a CS lens), real Auth.js RBAC, self-service workspaces + admin team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6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own the value — and have to prove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743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engineering teams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6118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structured studies and build defensible business cases in one place.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4256" y="23774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2C3B4D"/>
          </a:solidFill>
          <a:ln w="12700">
            <a:solidFill>
              <a:srgbClr val="2C3B4D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54296" y="2743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&amp; PMOs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54296" y="36118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EB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view of planned vs realized value across every initiative.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28432" y="23774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AD3C6"/>
            </a:solidFill>
            <a:prstDash val="solid"/>
          </a:ln>
          <a:effectLst>
            <a:outerShdw sx="100000" sy="100000" kx="0" ky="0" algn="bl" rotWithShape="0" blurRad="76200" dist="25400" dir="5400000">
              <a:srgbClr val="26303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2743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sponsors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48472" y="36118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E6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reconciliation the board asks for — approved value against proven value.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6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4709160"/>
            <a:ext cx="1371600" cy="1371600"/>
          </a:xfrm>
          <a:prstGeom prst="ellipse">
            <a:avLst/>
          </a:prstGeom>
          <a:solidFill>
            <a:srgbClr val="1B2632"/>
          </a:solidFill>
          <a:ln w="38100">
            <a:solidFill>
              <a:srgbClr val="B7C2C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892040"/>
            <a:ext cx="1371600" cy="1371600"/>
          </a:xfrm>
          <a:prstGeom prst="ellipse">
            <a:avLst/>
          </a:prstGeom>
          <a:solidFill>
            <a:srgbClr val="1B2632"/>
          </a:solidFill>
          <a:ln w="38100">
            <a:solidFill>
              <a:srgbClr val="D98E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031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value, and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value — linked.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7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that link weakest in your organisation today?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Lifecycle Platform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Lifecycle Platform — Solution Overview</dc:title>
  <dc:subject>PptxGenJS Presentation</dc:subject>
  <dc:creator>Value Lifecycle Platform</dc:creator>
  <cp:lastModifiedBy>Value Lifecycle Platform</cp:lastModifiedBy>
  <cp:revision>1</cp:revision>
  <dcterms:created xsi:type="dcterms:W3CDTF">2026-09-07T16:05:09Z</dcterms:created>
  <dcterms:modified xsi:type="dcterms:W3CDTF">2026-09-07T16:05:09Z</dcterms:modified>
</cp:coreProperties>
</file>